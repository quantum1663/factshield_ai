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3c11b57f45480a" /><Relationship Type="http://schemas.openxmlformats.org/officeDocument/2006/relationships/extended-properties" Target="/docProps/app.xml" Id="R2ad5f3dd08a24f5b" /><Relationship Type="http://schemas.openxmlformats.org/officeDocument/2006/relationships/officeDocument" Target="/ppt/presentation.xml" Id="Rbe557ad62dae47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d9ccc7316f4297"/>
  </p:sldMasterIdLst>
  <p:notesMasterIdLst>
    <p:notesMasterId xmlns:r="http://schemas.openxmlformats.org/officeDocument/2006/relationships" r:id="R524e5d3226464cff"/>
  </p:notesMasterIdLst>
  <p:sldIdLst>
    <p:sldId xmlns:r="http://schemas.openxmlformats.org/officeDocument/2006/relationships" id="256" r:id="R22176729e7c644de"/>
    <p:sldId xmlns:r="http://schemas.openxmlformats.org/officeDocument/2006/relationships" id="257" r:id="R78d20e33e19f4296"/>
    <p:sldId xmlns:r="http://schemas.openxmlformats.org/officeDocument/2006/relationships" id="258" r:id="R8053dd2505a846f7"/>
    <p:sldId xmlns:r="http://schemas.openxmlformats.org/officeDocument/2006/relationships" id="259" r:id="R6109fdd603de42f1"/>
    <p:sldId xmlns:r="http://schemas.openxmlformats.org/officeDocument/2006/relationships" id="260" r:id="R9de39aab22a64221"/>
    <p:sldId xmlns:r="http://schemas.openxmlformats.org/officeDocument/2006/relationships" id="261" r:id="R356df2b1417b4547"/>
    <p:sldId xmlns:r="http://schemas.openxmlformats.org/officeDocument/2006/relationships" id="262" r:id="Rf133c9db10664865"/>
    <p:sldId xmlns:r="http://schemas.openxmlformats.org/officeDocument/2006/relationships" id="263" r:id="Re8bc390eb578494b"/>
    <p:sldId xmlns:r="http://schemas.openxmlformats.org/officeDocument/2006/relationships" id="264" r:id="Re50f5e7b46de491c"/>
    <p:sldId xmlns:r="http://schemas.openxmlformats.org/officeDocument/2006/relationships" id="265" r:id="R1f70047e6eb341af"/>
    <p:sldId xmlns:r="http://schemas.openxmlformats.org/officeDocument/2006/relationships" id="266" r:id="R710b3b92cd514cee"/>
    <p:sldId xmlns:r="http://schemas.openxmlformats.org/officeDocument/2006/relationships" id="267" r:id="R42293da70e4243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9ccc7316f4297" /><Relationship Type="http://schemas.openxmlformats.org/officeDocument/2006/relationships/theme" Target="/ppt/theme/theme1.xml" Id="R1cbf9c3d8a1b4495" /><Relationship Type="http://schemas.openxmlformats.org/officeDocument/2006/relationships/notesMaster" Target="/ppt/notesMasters/notesMaster1.xml" Id="R524e5d3226464cff" /><Relationship Type="http://schemas.openxmlformats.org/officeDocument/2006/relationships/presProps" Target="/ppt/presProps.xml" Id="Ra80f1038f478481a" /><Relationship Type="http://schemas.openxmlformats.org/officeDocument/2006/relationships/viewProps" Target="/ppt/viewProps.xml" Id="R2d1a1bf8f63a48d2" /><Relationship Type="http://schemas.openxmlformats.org/officeDocument/2006/relationships/tableStyles" Target="/ppt/tableStyles.xml" Id="Rcff53702d73c4666" /><Relationship Type="http://schemas.openxmlformats.org/officeDocument/2006/relationships/slide" Target="/ppt/slides/slide1.xml" Id="R22176729e7c644de" /><Relationship Type="http://schemas.openxmlformats.org/officeDocument/2006/relationships/slide" Target="/ppt/slides/slide2.xml" Id="R78d20e33e19f4296" /><Relationship Type="http://schemas.openxmlformats.org/officeDocument/2006/relationships/slide" Target="/ppt/slides/slide3.xml" Id="R8053dd2505a846f7" /><Relationship Type="http://schemas.openxmlformats.org/officeDocument/2006/relationships/slide" Target="/ppt/slides/slide4.xml" Id="R6109fdd603de42f1" /><Relationship Type="http://schemas.openxmlformats.org/officeDocument/2006/relationships/slide" Target="/ppt/slides/slide5.xml" Id="R9de39aab22a64221" /><Relationship Type="http://schemas.openxmlformats.org/officeDocument/2006/relationships/slide" Target="/ppt/slides/slide6.xml" Id="R356df2b1417b4547" /><Relationship Type="http://schemas.openxmlformats.org/officeDocument/2006/relationships/slide" Target="/ppt/slides/slide7.xml" Id="Rf133c9db10664865" /><Relationship Type="http://schemas.openxmlformats.org/officeDocument/2006/relationships/slide" Target="/ppt/slides/slide8.xml" Id="Re8bc390eb578494b" /><Relationship Type="http://schemas.openxmlformats.org/officeDocument/2006/relationships/slide" Target="/ppt/slides/slide9.xml" Id="Re50f5e7b46de491c" /><Relationship Type="http://schemas.openxmlformats.org/officeDocument/2006/relationships/slide" Target="/ppt/slides/slide10.xml" Id="R1f70047e6eb341af" /><Relationship Type="http://schemas.openxmlformats.org/officeDocument/2006/relationships/slide" Target="/ppt/slides/slide11.xml" Id="R710b3b92cd514cee" /><Relationship Type="http://schemas.openxmlformats.org/officeDocument/2006/relationships/slide" Target="/ppt/slides/slide12.xml" Id="R42293da70e42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f8b329fba84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FactShield">
  <a:themeElements>
    <a:clrScheme name="FactShield">
      <a:accent1>
        <a:srgbClr val="1FD3F3"/>
      </a:accent1>
      <a:accent2>
        <a:srgbClr val="1AD1A5"/>
      </a:accent2>
      <a:accent3>
        <a:srgbClr val="F0C86B"/>
      </a:accent3>
      <a:accent4>
        <a:srgbClr val="FF7E87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actShiel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6b2ede3cc469f" /><Relationship Type="http://schemas.openxmlformats.org/officeDocument/2006/relationships/notesMaster" Target="/ppt/notesMasters/notesMaster1.xml" Id="R3d2370cc95ef46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d67b4ba674a83" /><Relationship Type="http://schemas.openxmlformats.org/officeDocument/2006/relationships/notesMaster" Target="/ppt/notesMasters/notesMaster1.xml" Id="R138b9d138c2a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1072a4fe394853" /><Relationship Type="http://schemas.openxmlformats.org/officeDocument/2006/relationships/notesMaster" Target="/ppt/notesMasters/notesMaster1.xml" Id="Rb5404e4e8c41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e74b9ecec406d" /><Relationship Type="http://schemas.openxmlformats.org/officeDocument/2006/relationships/notesMaster" Target="/ppt/notesMasters/notesMaster1.xml" Id="Re582e5520fc144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8de7bb2474b15" /><Relationship Type="http://schemas.openxmlformats.org/officeDocument/2006/relationships/notesMaster" Target="/ppt/notesMasters/notesMaster1.xml" Id="Rbc0b087a35d248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e2a6c371084e6d" /><Relationship Type="http://schemas.openxmlformats.org/officeDocument/2006/relationships/notesMaster" Target="/ppt/notesMasters/notesMaster1.xml" Id="Rf1a4c301fcb0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9716416d040ba" /><Relationship Type="http://schemas.openxmlformats.org/officeDocument/2006/relationships/notesMaster" Target="/ppt/notesMasters/notesMaster1.xml" Id="R3919ab55a17f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99efbcd074dac" /><Relationship Type="http://schemas.openxmlformats.org/officeDocument/2006/relationships/notesMaster" Target="/ppt/notesMasters/notesMaster1.xml" Id="R353702340c20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2afc376dad486e" /><Relationship Type="http://schemas.openxmlformats.org/officeDocument/2006/relationships/notesMaster" Target="/ppt/notesMasters/notesMaster1.xml" Id="R8b2eb51bb3a844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c5d40accb646eb" /><Relationship Type="http://schemas.openxmlformats.org/officeDocument/2006/relationships/notesMaster" Target="/ppt/notesMasters/notesMaster1.xml" Id="R08b83b7ccc044d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71c56ff95c4c5c" /><Relationship Type="http://schemas.openxmlformats.org/officeDocument/2006/relationships/notesMaster" Target="/ppt/notesMasters/notesMaster1.xml" Id="Rd6a581d119ff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3f54682eee41b3" /><Relationship Type="http://schemas.openxmlformats.org/officeDocument/2006/relationships/notesMaster" Target="/ppt/notesMasters/notesMaster1.xml" Id="Rcaa4f9fe7d8d42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system clearly and telling the audience this is both a technical pipeline and a usable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story operational. Faculty will understand this better if you talk about the analyst's job rather than the internet in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project has a rationale beyond a model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document and implemented backend pipeline.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clearly: our contribution is not only detection, but also operationalization.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document and implemented backend pipeline.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left to right: user-facing layer, core backend, services, and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document and implemented backend pipeline.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explainability and persistence are downstream from reasoning, not optional extras.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 document and implemented backend pipeline.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that this is where the system becomes a SaaS workflow rather than a lab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verification console, pipeline status, review queue, and the unified shell.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place to mention that the frontend is now backed by live data for reports, team, and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vague claims are possible but less convincing as a live presentation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scenario tests run on April 28, 2026 before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you stay honest and calm in Q and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  <a:p xmlns:a="http://schemas.openxmlformats.org/drawingml/2006/main">
            <a:r>
              <a:t>- Live scenario tests run on April 28, 2026 before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closing slide. Pause here before the live demo or Q and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FactShield frontend with command center, reports, team, settings, and export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ce6da50d0447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974A946-99BA-4F88-AD56-462EABB4C5D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C5F0B92-D761-41A6-A139-499C0BE271D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D01458-83AF-452C-9C4A-EE9847A6455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D56EE0-B719-4313-A130-14679A4DDA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bf812a368e1445d" /><Relationship Type="http://schemas.openxmlformats.org/officeDocument/2006/relationships/slideLayout" Target="/ppt/slideLayouts/slideLayout2.xml" Id="R8fde7c5ca7e6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B8F8D6-A665-4DE3-B18C-3EC28DB4472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e7c5ca7e6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cc59259c2477c" /><Relationship Type="http://schemas.openxmlformats.org/officeDocument/2006/relationships/notesSlide" Target="/ppt/notesSlides/notesSlide1.xml" Id="R43315adb623e4b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bea26d60a47ce" /><Relationship Type="http://schemas.openxmlformats.org/officeDocument/2006/relationships/notesSlide" Target="/ppt/notesSlides/notesSlide2.xml" Id="Rea840d67db0041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6bd417c77f4973" /><Relationship Type="http://schemas.openxmlformats.org/officeDocument/2006/relationships/notesSlide" Target="/ppt/notesSlides/notesSlide3.xml" Id="R9c79c87a1fa5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69f1f4984458f" /><Relationship Type="http://schemas.openxmlformats.org/officeDocument/2006/relationships/notesSlide" Target="/ppt/notesSlides/notesSlide4.xml" Id="R04947106aeb54c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8fd884d9f749e4" /><Relationship Type="http://schemas.openxmlformats.org/officeDocument/2006/relationships/notesSlide" Target="/ppt/notesSlides/notesSlide5.xml" Id="R1597af7b79d2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8884e807ea46ff" /><Relationship Type="http://schemas.openxmlformats.org/officeDocument/2006/relationships/notesSlide" Target="/ppt/notesSlides/notesSlide6.xml" Id="R8260f6091287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bc4b6fec9541a7" /><Relationship Type="http://schemas.openxmlformats.org/officeDocument/2006/relationships/notesSlide" Target="/ppt/notesSlides/notesSlide7.xml" Id="R0e14b6b3cfe54a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fd6958ab754fe5" /><Relationship Type="http://schemas.openxmlformats.org/officeDocument/2006/relationships/image" Target="/ppt/media/image.png" Id="R91856a6a0b7b420c" /><Relationship Type="http://schemas.openxmlformats.org/officeDocument/2006/relationships/image" Target="/ppt/media/image2.png" Id="R10f41a8dc58045f2" /><Relationship Type="http://schemas.openxmlformats.org/officeDocument/2006/relationships/notesSlide" Target="/ppt/notesSlides/notesSlide8.xml" Id="R6c1d30c757c540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e8db5f319748a0" /><Relationship Type="http://schemas.openxmlformats.org/officeDocument/2006/relationships/notesSlide" Target="/ppt/notesSlides/notesSlide9.xml" Id="Ra1d8eb3bf6b64c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2fa8801904dda" /><Relationship Type="http://schemas.openxmlformats.org/officeDocument/2006/relationships/chart" Target="/ppt/slides/charts/chart1.xml" Id="Re73ef7886c984c7b" /><Relationship Type="http://schemas.openxmlformats.org/officeDocument/2006/relationships/notesSlide" Target="/ppt/notesSlides/notesSlide10.xml" Id="R4ab6f7dde58440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d4dff76954f11" /><Relationship Type="http://schemas.openxmlformats.org/officeDocument/2006/relationships/notesSlide" Target="/ppt/notesSlides/notesSlide11.xml" Id="R8b9ede66069645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8b15eed2104974" /><Relationship Type="http://schemas.openxmlformats.org/officeDocument/2006/relationships/notesSlide" Target="/ppt/notesSlides/notesSlide12.xml" Id="Rdf4b0506fcb44c3c" /></Relationships>
</file>

<file path=ppt/slides/charts/chart1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Presentation pack</c:v>
          </c:tx>
          <c:spPr>
            <a:solidFill xmlns:a="http://schemas.openxmlformats.org/drawingml/2006/main">
              <a:srgbClr val="1FD3F3"/>
            </a:solidFill>
            <a:ln xmlns:a="http://schemas.openxmlformats.org/drawingml/2006/main" w="9525">
              <a:solidFill>
                <a:srgbClr val="1FD3F3"/>
              </a:solidFill>
              <a:prstDash val="solid"/>
            </a:ln>
          </c:spPr>
          <c:cat>
            <c:strLit>
              <c:ptCount val="4"/>
              <c:pt idx="0">
                <c:v>Full analyses</c:v>
              </c:pt>
              <c:pt idx="1">
                <c:v>Avg evidence</c:v>
              </c:pt>
              <c:pt idx="2">
                <c:v>Toxic flags</c:v>
              </c:pt>
              <c:pt idx="3">
                <c:v>Validation blocks</c:v>
              </c:pt>
            </c:strLit>
          </c:cat>
          <c:val>
            <c:numLit>
              <c:formatCode/>
              <c:ptCount val="4"/>
              <c:pt idx="0">
                <c:v>4</c:v>
              </c:pt>
              <c:pt idx="1">
                <c:v>3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4304A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967E8-243E-448B-BBC8-2E4D6CF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4D4F5-A4F4-4D99-AB67-E32F394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5B1E0-3BEC-42B1-B3E3-28284DF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64658-7141-4387-88D4-6BAA8190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D7FCD-3588-4CD1-AC64-63D29F78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E5CB7-BE39-425C-A8D8-EC64F85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951"/>
          </a:solidFill>
          <a:ln xmlns:a="http://schemas.openxmlformats.org/drawingml/2006/main" w="9525">
            <a:solidFill>
              <a:srgbClr val="2757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FC45A-B144-4459-B83C-AA34119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6775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D3F3"/>
                </a:solidFill>
              </a:defRPr>
            </a:pPr>
            <a:r>
              <a:rPr sz="900" b="1">
                <a:solidFill>
                  <a:srgbClr val="1FD3F3"/>
                </a:solidFill>
              </a:rPr>
              <a:t>FACTSHIELD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E7A4B-EA2A-4209-80F2-8A63EAD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2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AFF"/>
                </a:solidFill>
              </a:defRPr>
            </a:pPr>
            <a:r>
              <a:rPr sz="3450" b="1">
                <a:solidFill>
                  <a:srgbClr val="F4FAFF"/>
                </a:solidFill>
              </a:rPr>
              <a:t>FactShield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4B7D6-0133-4443-A16B-DA2A432C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181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1CBDA"/>
                </a:solidFill>
              </a:defRPr>
            </a:pPr>
            <a:r>
              <a:rPr sz="1575" b="0">
                <a:solidFill>
                  <a:srgbClr val="B1CBDA"/>
                </a:solidFill>
              </a:rPr>
              <a:t>An explainable misinformation-verification system with retrieval, reasoning, analyst workflow, and report export in one platform.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8402F-AED4-4A4B-966E-C4AF4CB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4478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7FAC2-B0EF-4F1B-8A52-C64B505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447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70AC7-0F19-4F03-A00A-20BC604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98D24-BC4C-4601-A3D6-2AC924F3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pipeline stages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B4170-7831-46D4-94B1-68B9932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6600"/>
            <a:ext cx="14478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745FE-6394-4FD8-A1AA-E5E28D2E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6600"/>
            <a:ext cx="1447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E31EC-8926-42A6-BF40-B1BB4834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9CFA9-6924-46C4-90D8-3D7C6DF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3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validated demo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6C6F3-8D3C-411F-B291-7917ECF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4478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B2FDC-7EBC-4469-8709-84722DB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447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1ACAF-9154-4C01-B09B-528B71C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67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49DC7-A41C-4AB6-9798-D526E5DA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81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9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real report export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95FF1-22CF-4AE5-92F3-CB0C2573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952500"/>
            <a:ext cx="51435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A93FE-8135-45AB-AC15-ECF863A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276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D3F3"/>
                </a:solidFill>
              </a:defRPr>
            </a:pPr>
            <a:r>
              <a:rPr sz="900" b="1">
                <a:solidFill>
                  <a:srgbClr val="1FD3F3"/>
                </a:solidFill>
              </a:rPr>
              <a:t>PROJECT 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18746-2E55-4951-A4A3-A640AAC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2038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7E67F-05BB-4793-B5A7-55F5812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D260D-C2E2-4AF4-9323-C61A08D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Problem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81828-3B42-42D8-95FE-6C062D9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Manual verification is slow and fragmented.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1AEE6-9D07-4B1D-8D42-90366872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038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55209-36BB-4F9B-A1DE-F72E91B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C963B-7963-4657-AE1D-8B2BEA55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33A08-1F50-40BF-B1DE-ACD2606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Ordinary tools do not connect verdicts, evidence, and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4A88B8-242D-4503-8B0A-632998D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2038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DC45A6-46E5-48CE-BC48-9A3A0EE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5C7B4-E32F-4A5A-AFE2-3CC18695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Approach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8A140-7FBA-4D3A-B239-6FD7A0F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Classify, retrieve, reason, explain, and operationalize.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1C9A52-ECDB-4F53-AD10-6B04E48D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2038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0F554-788F-4D89-95D9-12F64988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26B6E8-3753-49C1-A10B-A3A0A7E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Product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CAE09D-DB89-4B3D-964E-B10A88DA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528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Reports, team review, settings, and analyst handoff.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13EA3D-2DB3-4BCA-B533-904A718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FactShield final presentation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A29E3C-70B9-4766-AA28-2575186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April 28, 2026</a:t>
            </a:r>
          </a:p>
        </p:txBody>
      </p:sp>
    </p:spTree>
    <p:extLst>
      <p:ext uri="{BB962C8B-B14F-4D97-AF65-F5344CB8AC3E}">
        <p14:creationId xmlns:p14="http://schemas.microsoft.com/office/powerpoint/2010/main" val="149978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67772-A8C7-43BC-B94D-84F57065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1C479-0830-4A14-8FD3-49CF06D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6E7A7-AEC0-4AFD-AAC8-9693AF9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EFCB5-106E-4FF5-9A90-9AAC857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9B026-5A00-4AC3-87B6-7EBDF00D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5E708-8D54-4E6E-A1D0-EE74D76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PROBLEM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19EA8-845A-4C81-93AD-0F2D7800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81707-71D0-4D0A-AEA7-7D294B83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40A7-03B3-4B05-BDD8-9FBFC18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Why misinformation verification is difficult in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D79CA-4CFC-4441-A6B4-99BD2B8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Claims spread quickly across text, screenshots, and short videos, but reliable verification still depends on slow manual evidence collection and interpretation.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B2EBF-595E-4A6A-B268-457C890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33F3B-0EAE-44C7-93DF-45B6F26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05002-E121-4DBF-BF59-C70907EF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Speed 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799D8-2F77-441F-92BD-0529596D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971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False or misleading content spreads in minutes, while manual cross-checking often takes much longer.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D803B-B8B6-4DC9-BAD4-6E317CE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0F859-B39F-40D5-92BB-29AC893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60201-58D0-4B9A-86A1-27B2E1F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Evidence fragmentation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34909-F7D6-4048-ACE8-BC67D78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Sources, screenshots, and notes get scattered across tabs, chats, and ad hoc documents.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1F5BC-C6A9-4588-BCED-91421AD4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1F142-D3E3-4FD7-83E6-B8E0A6F9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343BCF-DCD2-42C5-8970-9408C6A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Low explainability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D3C03-4612-4812-A756-7E8E07C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971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A simple label is not enough when an analyst must justify why a claim was supported or refuted.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9565A-1A6B-4225-9785-1F635336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304A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D3331-46FC-445D-A88D-CBEECF0A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E87"/>
                </a:solidFill>
              </a:defRPr>
            </a:pPr>
            <a:r>
              <a:rPr sz="900" b="1">
                <a:solidFill>
                  <a:srgbClr val="FF7E87"/>
                </a:solidFill>
              </a:rPr>
              <a:t>CORE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340D3-5826-4197-A70A-7949950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5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AFF"/>
                </a:solidFill>
              </a:defRPr>
            </a:pPr>
            <a:r>
              <a:rPr sz="1500" b="0">
                <a:solidFill>
                  <a:srgbClr val="F4FAFF"/>
                </a:solidFill>
              </a:rPr>
              <a:t>We need a system that reduces verification time while preserving evidence quality, reasoning transparency, and an auditable review workflow.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640F4-67CF-48DE-A2D4-E1FBC779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The project is motivated by workflow failure, not only model accuracy.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4D7730-A2BF-4D3B-B441-99FDD24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Problem framing</a:t>
            </a:r>
          </a:p>
        </p:txBody>
      </p:sp>
    </p:spTree>
    <p:extLst>
      <p:ext uri="{BB962C8B-B14F-4D97-AF65-F5344CB8AC3E}">
        <p14:creationId xmlns:p14="http://schemas.microsoft.com/office/powerpoint/2010/main" val="729175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ACECC-9074-4790-8D5A-46090BF0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0CD1F-F7EA-481B-AF01-ED1D2A3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FEBBB-6FE5-47CD-A697-F438E54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4719D-9235-4937-9D5B-E45168B8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3E28C-B01A-4DFA-A3E7-F50A20B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1874-0D69-446A-8669-2EB2990E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GAP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84ADD-D9D2-43EF-B636-3E5909F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8AAB7-0558-4F45-AEF6-0ED2B1BF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4311C-F572-4293-A5C9-2200AEC5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What is missing in common verification setups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8640F-8733-44A0-8224-1408971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The gap is not just weak classification. The deeper gap is the absence of a unified pipeline from intake to evidence to final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E263B-B95B-49CB-9ADA-59F05C1E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347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E6F1E-B43D-447F-A087-7FD36BC3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D3F3"/>
                </a:solidFill>
              </a:defRPr>
            </a:pPr>
            <a:r>
              <a:rPr sz="1125" b="1">
                <a:solidFill>
                  <a:srgbClr val="1FD3F3"/>
                </a:solidFill>
              </a:rPr>
              <a:t>Current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D6E0E-212D-47ED-85D0-3639E19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D3F3"/>
                </a:solidFill>
              </a:defRPr>
            </a:pPr>
            <a:r>
              <a:rPr sz="1125" b="1">
                <a:solidFill>
                  <a:srgbClr val="1FD3F3"/>
                </a:solidFill>
              </a:rPr>
              <a:t>Observed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9D6A6-3311-41D0-AE61-32BEAC53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D3F3"/>
                </a:solidFill>
              </a:defRPr>
            </a:pPr>
            <a:r>
              <a:rPr sz="1125" b="1">
                <a:solidFill>
                  <a:srgbClr val="1FD3F3"/>
                </a:solidFill>
              </a:rPr>
              <a:t>What FactShield adds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C1396-58F1-45B1-A56A-D227F01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D3F3"/>
                </a:solidFill>
              </a:defRPr>
            </a:pPr>
            <a:r>
              <a:rPr sz="1125" b="1">
                <a:solidFill>
                  <a:srgbClr val="1FD3F3"/>
                </a:solidFill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95BFB-5988-4B25-A01F-9665879E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16AD3-B861-4EF3-91C6-A7C2E8EB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Manual article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D47F5-E595-43BC-8FA5-033387A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Evidence gathering is slow and inconsistent.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FFC72-FF37-4894-B3D0-6420C36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Retrieval with FAISS and reranking.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71088-F035-411F-9F08-047743DA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AFF"/>
                </a:solidFill>
              </a:defRPr>
            </a:pPr>
            <a:r>
              <a:rPr sz="1050" b="1">
                <a:solidFill>
                  <a:srgbClr val="F4FAFF"/>
                </a:solidFill>
              </a:rPr>
              <a:t>Faster evidence surfacing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A2E9B-E2E8-44B7-B19E-2EED45C8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FFDB3-3BB9-4AD4-9DC9-F5F7F86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Label-only classifier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CC2A0-DFDF-4561-ABFE-A493C67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Users cannot justify the output.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37546-E31F-44C6-8E54-515E2335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Debate verdict plus trace and evidence tabs.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354AF-BA5A-45FC-99B5-EAFBCE6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AFF"/>
                </a:solidFill>
              </a:defRPr>
            </a:pPr>
            <a:r>
              <a:rPr sz="1050" b="1">
                <a:solidFill>
                  <a:srgbClr val="F4FAFF"/>
                </a:solidFill>
              </a:rPr>
              <a:t>Explainable decision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E15D1-42BF-4931-A62A-11663AD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E23BF-65E2-4ADA-AA0C-12B72F6A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Static dashboards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C7D15B-D29A-4FED-89F6-6B059C7B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No operational handoff after analysis.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2B135-8517-4E87-810E-7C50FF86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Reports, team assignment, settings, export.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8A693-7715-4EEA-86E6-17CE692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AFF"/>
                </a:solidFill>
              </a:defRPr>
            </a:pPr>
            <a:r>
              <a:rPr sz="1050" b="1">
                <a:solidFill>
                  <a:srgbClr val="F4FAFF"/>
                </a:solidFill>
              </a:rPr>
              <a:t>Usable SaaS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6F474-84A2-4A69-A5CB-83D8E54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This slide turns the project into a clear design response to an identified gap.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6A2A2-C7C9-44A7-BCF0-27FD740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Gap analysis</a:t>
            </a:r>
          </a:p>
        </p:txBody>
      </p:sp>
    </p:spTree>
    <p:extLst>
      <p:ext uri="{BB962C8B-B14F-4D97-AF65-F5344CB8AC3E}">
        <p14:creationId xmlns:p14="http://schemas.microsoft.com/office/powerpoint/2010/main" val="1782088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F9526-8A76-4178-BF07-E69A8B3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C62FF-DF66-435B-A9F0-C1E3C9D9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E3D56-9C0A-46F4-86C4-DF37BA9E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5B8F6-06B2-423E-A891-10448CA7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8F6EB-4D42-488D-989F-204386B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C5160-DC78-417F-93FF-BC7966F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OUR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9AA21-2890-4954-AA58-0704992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C4D9E-F0F8-47D5-BA9E-0B2CF65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9EF6A-A3AB-490D-9AC3-D7CD5A5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Proposed solution: an end-to-end verification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001FF-E481-47C7-9EB6-177B51D0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FactShield combines machine learning, retrieval, reasoning, and analyst operations so verification can move from raw claim to final report inside one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9F177-DA1A-4788-B27C-CAD7E796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D28D3-11B7-4BB7-B196-932F55D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2135E-36BD-412A-929C-55D0D5C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242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D11DB-53FC-4C45-83A1-781A9EF9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Ingest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785FD-F84B-4931-81A7-701E527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Accept claim text, image OCR output, or extracted video transcript.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609AF-D150-4654-B82F-F5655622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BD240-184C-4A99-925D-440F0FC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71A80-C2AD-4E02-9350-8E25EEF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242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4E0C4-6566-419C-9F38-57467B5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Analyze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7380F-8226-4A1B-949A-164CDAD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Classify veracity and toxicity, then trigger search and retrieval when needed.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BF3E2-F240-4D68-BA64-A95FC36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765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CA2F4-7F52-4DE0-B08B-4D50E7A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1DF23-6272-4472-9AAA-4393662D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42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0DB20-C1AD-4124-896D-8E3386B9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480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4CB0D-0173-47F3-9604-A7DF7AF1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Use a structured debate to synthesize the final verdict.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00FA2-6ACB-4285-A629-C0DA3703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CE3CC-4094-4609-B40C-5973F17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DEEC9-7066-4B88-B8D3-3637F2A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242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E5C71-574C-47E9-9AF7-D044369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Explain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88F31-E596-490C-ADA8-9C015B1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Surface evidence, traces, and report-ready notes.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8695A-EF7A-4E97-8C9C-E00BF2E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371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7B25AD-4E21-4729-BB81-0A300CF2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EB97A6-0B59-4349-8DE6-5A396EAB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242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386E3-6661-48C7-A079-DF23991D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48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Operate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4E111C-61CF-4596-8C76-56DD44F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Assign, export, and review.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6A9C18-B3EE-4337-B4FB-F341ED3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9A0265-D619-4FBB-B2A8-5BE7EF14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85FE88-95A1-4938-8672-F598F5E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B48E33-88B3-4027-B3C8-BD25A35A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671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37A560-4AF3-4AE4-9552-5AB98A69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9C872E-76C0-4551-90FB-A07440B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BC7196-841C-469D-B23E-83752185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242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E0A718-8205-47B6-9536-AC977A3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671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BDFEE2-8618-47F1-B885-0E75640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F74F17-89C1-4669-BE22-FE5D1BC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F33936-EC92-4BAE-91A5-CA3737C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Design objective 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9F0231-597A-4B35-BABA-56D0BE9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97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Reduce analyst effort without hiding the reasoning path.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6C243B-8D32-42CE-A5C0-3B6228CA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67D79F-9F10-4641-AD99-22A0EF13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16C66D-6C76-4A1C-8F63-0648090A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Design objective 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4E66A0-A894-4D38-90E1-64DAB2EF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57800"/>
            <a:ext cx="297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Connect verification outputs to persistent reports and review workflows.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5BE4B7-85C5-4E39-8F66-D0357BD5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CFC239-747F-4CC3-841D-FDF67461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417E14-DAA8-4E91-AF53-F93E61A2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339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Design objective 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A332C0-C1E5-4484-AAD7-A10044A7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2971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Present results through a modern SaaS interface rather than disconnected scripts.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403F0-2245-4C2E-8491-4EAF1799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This is the high-level answer to the gap slide.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896D92-F2EC-4BDA-A1C6-5D500DA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Approach overview</a:t>
            </a:r>
          </a:p>
        </p:txBody>
      </p:sp>
    </p:spTree>
    <p:extLst>
      <p:ext uri="{BB962C8B-B14F-4D97-AF65-F5344CB8AC3E}">
        <p14:creationId xmlns:p14="http://schemas.microsoft.com/office/powerpoint/2010/main" val="954109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E9D2B-C273-415B-8BDB-E1F85286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6F591-05C1-4023-981B-EBDA9E9E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DF4D-8CDF-43F9-8EE9-EF21958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9B9D1-F603-4255-A1D3-E0A6C768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3A06E-8B79-4BB3-918F-35A48F1D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AFD7-F070-499E-8E98-82EE7AF5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16AC-DCF9-40DD-9BDB-6FCD714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A7D4C-CF7D-48ED-94B2-0F2154DC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EC701-1339-42FD-9D76-87A63E75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System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7DD79-EF94-4877-BB0E-07F5A6C9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The system is organized as a frontend workspace, a FastAPI backend, and a verification pipeline with persistence and retrieval services.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C2B82-485C-4CD9-BCA3-1A3D4946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C987C-111E-43B3-942F-C4C4BA3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59406-1D79-4F5F-A3BE-150940C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Frontend SaaS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5D72B-1445-468F-A8B8-AA022879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Command center, reports, team, settings, archive, and review surfaces.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1F6D8-209C-42F5-9796-0607640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C860B-7C19-4F03-B239-E22FB96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35D95-0882-4CD8-A551-F2E99344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Operator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674AD-3C4F-4223-857A-9F8D988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Paste claims, open reports, assign investigations, export briefings.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D701E-E3B6-41B3-962D-463C037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9D656-D95F-47B0-B574-9FAB142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9FA6F-6FD4-42A5-9F48-84647737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FastAPI orchestration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AEA21-4883-4CB2-A3F0-A3660AE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Receives verification requests, manages task state, exposes feed and workspace APIs, and returns structured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B999E-032A-41BF-B846-79DC876E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CE2825-8D21-4309-85B5-E4624B2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58833-82F1-4206-941C-B639E4A0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Verification pipeline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AA177-EFCE-4E0F-AEBB-FA767C0E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3860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Classification, search, FAISS retrieval, reranking, debate reasoning, and explainability.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2D9B6-89F7-46F3-9713-4F5558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BEA0D-EEE0-4A70-AA6D-DDA3E08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02021-2D16-4C3D-8517-D22C87E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Persistence and 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CAED3E-1704-4A80-A24F-B6D77601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7210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SQLite tasks, workspace state, result export, cache, and rate limits.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1277F-51F8-47C3-B12A-13B3EEBA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FB98C-0D42-4B1A-888C-BD85ACE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0292A9-FDF1-4304-8E07-BF8DD18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194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External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8EFBD5-30CB-4306-A0D9-E5F8121F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Trusted article sources and retrieved candidate evidence.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21B6B-9798-4A37-AC29-9CEBDE76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F2B7F5-B026-4362-AE49-C31DD51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606803-C645-480A-B89F-63A23C8E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29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Outputs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9BA77A-3F7F-413C-9A99-FB29861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530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Verdict, evidence, reports, team assignment, and settings-aware workflow.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9ECE6-9323-4B7C-9750-86566FB4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A6B56-DD0D-4A76-9322-4002060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FF2B9E-8334-402A-B5F4-9DF16A22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13C928-CFD3-4BCD-AD4E-51E7608F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986233-D551-4401-82A2-553E0D1E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911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A81ED8-3895-4793-BD17-54D9A4E5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76090-19B4-48C2-BF29-14965B6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E1CD38-9FEC-4FD8-A2D6-1F088F6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3395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85D797-C520-42E7-AEA3-FEC66ADA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819FF7-5D0F-4918-BE3B-140F91CD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5B3767-8C20-46B6-BE45-76F4D58A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This slide is your static architecture diagram for the viva-style part of the presentation.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3EE332-AC6C-4D28-BFED-19012C5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System view</a:t>
            </a:r>
          </a:p>
        </p:txBody>
      </p:sp>
    </p:spTree>
    <p:extLst>
      <p:ext uri="{BB962C8B-B14F-4D97-AF65-F5344CB8AC3E}">
        <p14:creationId xmlns:p14="http://schemas.microsoft.com/office/powerpoint/2010/main" val="529805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EA3DC-1121-48F0-AD91-877ACA86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E0AF1-6668-4CC5-8DF8-E8374AA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8E0BF-56AD-4311-85CE-0D013A7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E60CE-7189-4D52-A56F-704BD4B6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8066-102D-4E61-8864-1E86CFE8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2B9A1-DB5A-4282-A1F0-7F1AFB6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FLOWCHART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BD581-54DE-4887-83A8-183478F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5B7A2-1C0F-471F-94B3-F7F5173F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B23A6-892D-4619-89B5-D26F40D2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Verification pipeline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3AE0A-E8D4-4116-A494-61FF8A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This is the logic path that turns an incoming claim into an explainable verdict.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AC8FC-3C2A-4F84-9C5B-A9329A0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7716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59352-7DCA-49C1-BA32-A490ABF6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D83BF-A6CE-406D-9667-549084D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16370-B9BD-478B-A8CF-4C0A314A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57733-D147-4324-8D7B-E7120B6D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User submits text, image, or video-derived 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ECB1A-B758-48B9-A498-F14EA02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33700"/>
            <a:ext cx="17716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2BB3A-BC39-4937-AC2F-6E1307F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65B11-3DF6-49DF-BBA9-0C19F6C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81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17E6C-2686-418C-A8F4-D18DE1DE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Classify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0DF71-A539-4771-838B-CF9253E6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XLM-R predicts veracity and toxicity priors.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0CDA6-4354-455E-AD95-1B89F69A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17716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C56BF-C294-4C75-8D6C-66044244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1C5F2-623C-4709-A1A7-B41FB16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45786-41B1-4363-B3E9-E5AB1ED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3BD35-ABBF-4AA8-BA9F-1EABFA93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Search plus FAISS fetch evidence candidates.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5DCAD-449B-4493-9B26-A7C2F0C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33700"/>
            <a:ext cx="17716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302AB-5064-42C4-8121-9109C89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3C7A2-3F29-4625-94EA-8384E5B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81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A966E3-2780-4A4D-B91A-EAED37F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Debate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9BA6A-4912-4548-B5D6-B97EDA63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Prosecutor, defense, and judge synthesize verdict.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2DFC8-4543-47A1-B13B-AF5F0A6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33700"/>
            <a:ext cx="17716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5BA87-21FC-4045-93C9-69F2F82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82349-D046-4252-BEF4-5CFF6636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81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1F"/>
                </a:solidFill>
              </a:defRPr>
            </a:pPr>
            <a:r>
              <a:rPr sz="825" b="1">
                <a:solidFill>
                  <a:srgbClr val="07121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9E9F1-2A08-4CE6-ADD9-6995A766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AFF"/>
                </a:solidFill>
              </a:defRPr>
            </a:pPr>
            <a:r>
              <a:rPr sz="1200" b="1">
                <a:solidFill>
                  <a:srgbClr val="F4FAFF"/>
                </a:solidFill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675437-3794-4A45-BA68-B53828B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Evidence tab, trace, notes, and report summary.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9875AA-DEE0-4F9B-BABD-BAB727CD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0D120-D4B2-4030-93A7-3E3EBA9A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1E85E2-79C1-4CF0-B2FF-73D42B9C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CE42E-9F8B-437E-A5FD-FBDF60C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CBCA5-0558-4459-91A5-8F3BB0FB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EDE76E-CB13-4F6B-A38F-933915B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DAF2C1-FF09-4823-B436-699C4FD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1134B8-ED3E-4F23-BC98-398BF96D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1FD3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D2116-45C3-4926-9668-4A0574E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3365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F3CF1F-790F-428E-8DA7-AEE6A90D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336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EC9AA2-5486-4494-A745-2A09E947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051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99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Decision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EEB326-89CC-4454-8708-50F72CD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291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When confidence is weak or uncertain, retrieval becomes more important.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8AD207-F862-4111-A890-FEB9B462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621C51-B014-4176-AB28-52284D5B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EE45FD-FF5C-4CF2-B607-FA66B547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14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Stored output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A64367-F2C7-4E57-A586-880F3FF0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38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47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Results become saved investigations and backend-backed report records.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4D423D-9162-48C0-8C07-0A263BE8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FB9C77-E603-42CC-95E2-2C4BA65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0572CB-DC74-4788-BDB2-7E23443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055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Why this matters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D1726-45C1-4B79-8373-69BD8ED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55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The pipeline is designed so that model output is not the final artifact. The final artifact is an evidence-backed, reviewable verification result.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0F9743-70D9-420A-AE43-CFE413A5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This is the clearest pipeline explanation slide.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7AAD40-C6B7-4FCD-9CC9-776B033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Verification flow</a:t>
            </a:r>
          </a:p>
        </p:txBody>
      </p:sp>
    </p:spTree>
    <p:extLst>
      <p:ext uri="{BB962C8B-B14F-4D97-AF65-F5344CB8AC3E}">
        <p14:creationId xmlns:p14="http://schemas.microsoft.com/office/powerpoint/2010/main" val="254121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8D90F-F6EA-4E42-B6A2-A4FDFE64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EA94C-32FF-4493-9836-51E619D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BD413-DB16-4764-B178-D76E7809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EEB4C-D14D-427F-8184-CBBE01EE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70A8A-3897-4894-847B-5E1F6A9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2D7B0-CA39-4F16-950B-7BFCC416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USER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B6561-5633-4571-B789-84CCE14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8FFAB-E9DB-4CC8-BF46-50E4DEC3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CDF09-153A-43B5-8905-9D0D0E4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How a user moves through FactShield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70EDE-A2EA-4E0A-AFBC-A9E33D7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This operator workflow shows how the product turns backend intelligence into an actual review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6856D-0A25-4B3D-A60B-7C04203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F1242-190B-47D7-9899-C195EF6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4EC81-507E-4B64-BE86-D45BDD1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</a:rPr>
              <a:t>1. Verification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D2FCC-C531-40B8-9566-84D7E6B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1CBDA"/>
                </a:solidFill>
              </a:defRPr>
            </a:pPr>
            <a:r>
              <a:rPr sz="1125" b="0">
                <a:solidFill>
                  <a:srgbClr val="B1CBDA"/>
                </a:solidFill>
              </a:rPr>
              <a:t>Paste claim or upload media, then start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429F2-81D8-4524-915A-6E12B5C7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6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1CBDA"/>
                </a:solidFill>
              </a:defRPr>
            </a:pPr>
            <a:r>
              <a:rPr sz="1125" b="0">
                <a:solidFill>
                  <a:srgbClr val="B1CBDA"/>
                </a:solidFill>
              </a:rPr>
              <a:t>Immediate system response: status, pipeline stage, retrieved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9E771-0D87-4AB1-883E-57811FA5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DE344-71FF-4B96-9E09-2AD41A5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DA23F-0331-410B-B946-7A228F37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5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</a:rPr>
              <a:t>2. Review queue and investigations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14BC1-88AB-4126-B236-96498F05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1CBDA"/>
                </a:solidFill>
              </a:defRPr>
            </a:pPr>
            <a:r>
              <a:rPr sz="1125" b="0">
                <a:solidFill>
                  <a:srgbClr val="B1CBDA"/>
                </a:solidFill>
              </a:rPr>
              <a:t>Open live items, inspect source context, and move cases into investigation handling.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87412-A983-4E59-AABC-3B7F94E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322ED-88D9-4916-9BA3-BC6BFCE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373CE-0815-4E6A-B824-1CD543E6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69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</a:rPr>
              <a:t>3. Reports, assignment, and settings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389D6-34CA-45FF-A050-56A7D395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29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1CBDA"/>
                </a:solidFill>
              </a:defRPr>
            </a:pPr>
            <a:r>
              <a:rPr sz="1125" b="0">
                <a:solidFill>
                  <a:srgbClr val="B1CBDA"/>
                </a:solidFill>
              </a:rPr>
              <a:t>Save metadata, assign investigators, update workspace controls, and export the final report.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09188-656E-4E4A-AE32-5E7802D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6D940-E2FD-44ED-8F73-E35EED3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4AE98-614E-4FA4-B8DC-C6E52A0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AFF"/>
                </a:solidFill>
              </a:defRPr>
            </a:pPr>
            <a:r>
              <a:rPr sz="1350" b="1">
                <a:solidFill>
                  <a:srgbClr val="F4FAFF"/>
                </a:solidFill>
              </a:rPr>
              <a:t>4. Delivery and briefing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E9B4C-131B-4F6A-B90D-4E128E0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676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1CBDA"/>
                </a:solidFill>
              </a:defRPr>
            </a:pPr>
            <a:r>
              <a:rPr sz="1125" b="0">
                <a:solidFill>
                  <a:srgbClr val="B1CBDA"/>
                </a:solidFill>
              </a:rPr>
              <a:t>Decision-makers receive a downloadable report with verdict, confidence, notes, and evidence summary.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70B23-9580-420F-B9A0-845419A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Use this slide to connect technical depth to actual product use.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A15AD-7665-42CA-84B2-7F9F837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User journey</a:t>
            </a:r>
          </a:p>
        </p:txBody>
      </p:sp>
    </p:spTree>
    <p:extLst>
      <p:ext uri="{BB962C8B-B14F-4D97-AF65-F5344CB8AC3E}">
        <p14:creationId xmlns:p14="http://schemas.microsoft.com/office/powerpoint/2010/main" val="931837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297DE-E11D-4A51-BDBE-688FAE70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18A4C-24F1-463C-BDA5-286A77D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5CD7F-6C1E-4E38-BCDA-FEFA86A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FBFA5-9723-438E-9DD7-2000829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11067-8AF9-4133-8B87-F591FB4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BC1A2-1323-4297-BD75-1210AC89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197F2-23E3-4873-B6A4-FE4898F3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778F2-5168-4CAD-8243-D037AAB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C876A-702A-4345-BDD3-B4CB5BED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Implemented SaaS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3D129-089F-4698-AC7C-5BE6375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We redesigned the frontend to behave like a coherent operator product rather than a disconnected set of screens.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31F28-AC57-46FD-85D2-FC51155A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56a6a0b7b420c"/>
          <a:srcRect xmlns:a="http://schemas.openxmlformats.org/drawingml/2006/main" l="0" t="17560" r="0" b="175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762250"/>
            <a:ext cx="6934200" cy="31242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8B1AE-59CE-4893-BA01-BEDBDAA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857500" cy="30861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304A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41a8dc58045f2"/>
          <a:stretch xmlns:a="http://schemas.openxmlformats.org/drawingml/2006/main"/>
        </p:blipFill>
        <p:spPr>
          <a:xfrm xmlns:a="http://schemas.openxmlformats.org/drawingml/2006/main">
            <a:off x="9000173" y="2800350"/>
            <a:ext cx="1163955" cy="2686050"/>
          </a:xfrm>
          <a:prstGeom xmlns:a="http://schemas.openxmlformats.org/drawingml/2006/main" prst="round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42CB-9C68-480A-BE9A-EDA35E9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48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384F"/>
          </a:solidFill>
          <a:ln xmlns:a="http://schemas.openxmlformats.org/drawingml/2006/main" w="9525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08C4E-529D-41A3-AD37-CCB354BF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15025"/>
            <a:ext cx="838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D3F3"/>
                </a:solidFill>
              </a:defRPr>
            </a:pPr>
            <a:r>
              <a:rPr sz="900" b="1">
                <a:solidFill>
                  <a:srgbClr val="1FD3F3"/>
                </a:solidFill>
              </a:rPr>
              <a:t>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DC21-A2AE-4705-A4F2-B751277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48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384F"/>
          </a:solidFill>
          <a:ln xmlns:a="http://schemas.openxmlformats.org/drawingml/2006/main" w="9525">
            <a:solidFill>
              <a:srgbClr val="2757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7B3A2-9B50-4F64-92BC-8E9AF5E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915025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D1A5"/>
                </a:solidFill>
              </a:defRPr>
            </a:pPr>
            <a:r>
              <a:rPr sz="900" b="1">
                <a:solidFill>
                  <a:srgbClr val="1AD1A5"/>
                </a:solidFill>
              </a:rPr>
              <a:t>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B7ABA-DF99-449D-B8FD-2B405DA2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4835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384F"/>
          </a:solidFill>
          <a:ln xmlns:a="http://schemas.openxmlformats.org/drawingml/2006/main" w="9525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AF8C4-602A-4609-B65D-9AC0F2F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915025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C86B"/>
                </a:solidFill>
              </a:defRPr>
            </a:pPr>
            <a:r>
              <a:rPr sz="900" b="1">
                <a:solidFill>
                  <a:srgbClr val="F0C86B"/>
                </a:solidFill>
              </a:rPr>
              <a:t>SETTINGS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8C739-ED17-4E65-B008-A0B0A4E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A strong product slide matters because it proves implementation maturity.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E1164-C98B-47B9-BF29-03A68C0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Frontend redesign</a:t>
            </a:r>
          </a:p>
        </p:txBody>
      </p:sp>
    </p:spTree>
    <p:extLst>
      <p:ext uri="{BB962C8B-B14F-4D97-AF65-F5344CB8AC3E}">
        <p14:creationId xmlns:p14="http://schemas.microsoft.com/office/powerpoint/2010/main" val="1724291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AE0CA-3312-4F01-A3A6-0FF51B1B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72989-CFFE-4F86-A8A3-C4268C7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4D5AA-1A76-4BBD-B475-F9E480C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847BC-9C4F-42BB-BE3C-7333F83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62A8D-CA38-401D-96D0-7C9BE848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ADB72-6544-4967-8C02-FE5C5D47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9A1E2-A00C-4008-AF77-F1CE8BA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6D1A7-5FC5-4803-A702-DC2789DF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942C-0669-4DA6-9571-E217991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Key capabilities delivered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0BB8E-53C0-461C-B7CA-3577195F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The project now includes backend-backed workflow features, not only verification endpoints.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0F715-2DFB-43E8-90B8-116E081C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5E794-6FA5-417F-AA3E-E1A8A33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AAA58-8E2C-4AD2-87CA-1D4D7EE8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Report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2E544-A780-449F-A1D2-214C0034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Export produces a real downloadable report instead of a visual placeholder button.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A561D-2864-4C8F-8BAF-13C672E0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C31E0-389A-40FC-9AF3-2265640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D8417-DE22-4D88-A5F3-205D9556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Saved investigations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4D2FF-E854-4AE6-BB48-55F9C1DF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Reports are now derived from persisted verification tasks and live backend records.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DB334-AFE9-41F3-B958-CE69927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DF4AE-6963-4494-B05B-450410F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9B8AD-54BB-48D4-B1B2-F59F0452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Team assignment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08027-9D9C-4549-A973-BB9A8C7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Investigations can be assigned through the Team workspace and persisted.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713DC-0B18-4809-82CA-FA956512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ADEA9-5C56-4344-9A1F-F98B13C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6A4DF-284F-49F3-B85F-79B61D82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Settings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F3624-7973-4C01-B10D-83D7A8E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Workspace controls save status, detail, and value instead of staying static.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31DE9-0B17-4579-99AE-2D555A7C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1E2F1-906D-445A-9342-C6994B4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D47BD-11EC-4AB9-8EE1-C9B53E5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05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Approval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E820F-28DB-4BE9-BC88-FD84EDB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291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Reports store owner, audience, approval status, reviewer identity, notes, and export metadata.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BC45B-2D70-44FB-A204-A18F7EC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3C313-3B28-43FB-9FC5-6DC8B04B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DBD0A-ACBB-4327-A08F-4217C02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Text normalization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100CC8-BEE6-4706-8AF5-16B60639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291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Historic stored payloads were cleaned so report-facing text remains presentation-ready.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D14BF-1E2B-415F-A458-34AE5E96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This is the implementation-summary slide for the product engineering part.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8BD14-AC24-4682-A51A-DC4D07BF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Delivered work</a:t>
            </a:r>
          </a:p>
        </p:txBody>
      </p:sp>
    </p:spTree>
    <p:extLst>
      <p:ext uri="{BB962C8B-B14F-4D97-AF65-F5344CB8AC3E}">
        <p14:creationId xmlns:p14="http://schemas.microsoft.com/office/powerpoint/2010/main" val="1834957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72E61-826B-4129-A0A0-DA1E880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FCA9F-740C-4688-A1A8-462F734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D8299-366A-4A94-9256-634B2116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6BAF8-D495-4FB4-A338-3208C14F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BC332-8631-472B-AF51-22391333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A9F6D-620F-4071-938F-DD8F7A2B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85067-D1E1-4C06-BAC9-4218C22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E497-323B-417F-B19D-A7B26991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3E03D-6432-42D4-9DE1-4BC2B52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Scenario testing before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D98F9-DC81-4A1D-9D5A-5C7569F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We tested a short set of claims against the live backend to identify strong demo paths and risky edge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C6882-DBBF-486D-AEE8-3C8B0A7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143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69311-5D57-4208-944C-9A08AA2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6B85C-211F-4087-9D1B-1A70DA55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BB60C-C69B-4213-B051-A4A78E37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successful case 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51DE2-94A9-4B45-8359-F321AC94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28900"/>
            <a:ext cx="1143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D14F-7555-4E28-8A2F-AB61513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28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6E4A3-B4EA-41D5-8357-6B06FA0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194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FA762-9A6F-4F16-B028-8ADA938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33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evidence hits in strong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AF614-7AB8-4FE6-8E94-5FF8778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28900"/>
            <a:ext cx="1143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F2A36-D8D9-4B56-9FFD-7C3EA29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28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07B9A-2A5F-4013-9C86-773C668D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194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CA644-C8A1-4346-86DB-026D1E3A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hate case flagged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A6814-5CDF-45F1-B564-494C4B0A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1143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93900-3BF4-4DBA-A4D9-24C5B59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46975-1415-442B-AF1B-B0AD4FFA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80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F"/>
                </a:solidFill>
              </a:defRPr>
            </a:pPr>
            <a:r>
              <a:rPr sz="2250" b="1">
                <a:solidFill>
                  <a:srgbClr val="F4FAFF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1A5B2-606E-4520-9FDB-318775E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invalid input blocked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4AAE2-EAE7-4EED-BB97-48A3DEB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A1845-C6C7-449C-AC6B-1FF23664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D3F3"/>
                </a:solidFill>
              </a:defRPr>
            </a:pPr>
            <a:r>
              <a:rPr sz="900" b="1">
                <a:solidFill>
                  <a:srgbClr val="1FD3F3"/>
                </a:solidFill>
              </a:rPr>
              <a:t>RESULTS SNAPSHOT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800100" y="4438650"/>
          <a:ext xmlns:a="http://schemas.openxmlformats.org/drawingml/2006/main" cx="4572000" cy="1219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3ef7886c984c7b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0933A-BF3C-4A01-A3DE-42DB7043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5524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C7B47-B99C-4FB6-AA22-66AA02DC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Scenario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7DF9A-3503-451E-9067-A2DF780D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Verdict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D7D3A-9068-417D-BEB2-150CDB9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Veracity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E7C11B-3635-4B08-810C-46F2D46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95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71E8C5-6AE2-43EF-B2B9-50CA64D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624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C43D6-DA80-4258-B9E0-F6805C0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F"/>
                </a:solidFill>
              </a:defRPr>
            </a:pPr>
            <a:r>
              <a:rPr sz="975" b="0">
                <a:solidFill>
                  <a:srgbClr val="F4FAFF"/>
                </a:solidFill>
              </a:rPr>
              <a:t>Factual claim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99CF48-306E-4A34-AB97-E9788E25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D1A5"/>
                </a:solidFill>
              </a:defRPr>
            </a:pPr>
            <a:r>
              <a:rPr sz="975" b="1">
                <a:solidFill>
                  <a:srgbClr val="1AD1A5"/>
                </a:solidFill>
              </a:rPr>
              <a:t>Supports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FDFF0-17C4-4B08-8800-EC097B4C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real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332BAF-3AD6-4C55-A61B-7676ED1E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576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7AC8B0-83DD-4D2C-ADAE-F2258B7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1AE071-D647-47BF-8EA2-B5B6C7F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F"/>
                </a:solidFill>
              </a:defRPr>
            </a:pPr>
            <a:r>
              <a:rPr sz="975" b="0">
                <a:solidFill>
                  <a:srgbClr val="F4FAFF"/>
                </a:solidFill>
              </a:rPr>
              <a:t>Political misinformation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F0F79A-AA94-4F79-95F3-3F2816BF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AFF"/>
                </a:solidFill>
              </a:defRPr>
            </a:pPr>
            <a:r>
              <a:rPr sz="975" b="1">
                <a:solidFill>
                  <a:srgbClr val="F4FAFF"/>
                </a:solidFill>
              </a:rPr>
              <a:t>Refutes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C1739F-1704-4C6B-A266-6C62E59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fake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11302F-8CD4-40CD-B65E-D03DC22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CA7A85-6D40-45BC-9C10-FDC19702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768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8465F3-12AF-4521-8EB1-F820449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F"/>
                </a:solidFill>
              </a:defRPr>
            </a:pPr>
            <a:r>
              <a:rPr sz="975" b="0">
                <a:solidFill>
                  <a:srgbClr val="F4FAFF"/>
                </a:solidFill>
              </a:rPr>
              <a:t>Toxic post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A3F5F9-B40D-4B05-BEB8-304798B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72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AFF"/>
                </a:solidFill>
              </a:defRPr>
            </a:pPr>
            <a:r>
              <a:rPr sz="975" b="1">
                <a:solidFill>
                  <a:srgbClr val="F4FAFF"/>
                </a:solidFill>
              </a:rPr>
              <a:t>Refutes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D43D06-0A05-4716-AF0D-79190378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misleading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16E60B-C67C-4DE6-8447-E218FB5A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72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A27943-D03A-4C47-A416-97B43C3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40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7CD3A1-C344-485D-A969-3E8ED73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29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F"/>
                </a:solidFill>
              </a:defRPr>
            </a:pPr>
            <a:r>
              <a:rPr sz="975" b="0">
                <a:solidFill>
                  <a:srgbClr val="F4FAFF"/>
                </a:solidFill>
              </a:rPr>
              <a:t>Tiny invalid input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FC33F3-1E97-49A0-9DB9-02DC732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86B"/>
                </a:solidFill>
              </a:defRPr>
            </a:pPr>
            <a:r>
              <a:rPr sz="975" b="1">
                <a:solidFill>
                  <a:srgbClr val="F0C86B"/>
                </a:solidFill>
              </a:rPr>
              <a:t>Rejected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FC0BB5-EC68-48B5-80E8-ADDD7CF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400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41DA80-13DA-43CF-9D09-78AF2BD8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4292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1CBDA"/>
                </a:solidFill>
              </a:defRPr>
            </a:pPr>
            <a:r>
              <a:rPr sz="975" b="0">
                <a:solidFill>
                  <a:srgbClr val="B1CBDA"/>
                </a:solidFill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9AB12C-C74E-4948-8C0E-0EEB2AA9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These results are why tomorrow's demo should stay inside rehearsal-tested claims.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E92C06-A8C0-4972-997F-3B418C4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Scenario testing</a:t>
            </a:r>
          </a:p>
        </p:txBody>
      </p:sp>
    </p:spTree>
    <p:extLst>
      <p:ext uri="{BB962C8B-B14F-4D97-AF65-F5344CB8AC3E}">
        <p14:creationId xmlns:p14="http://schemas.microsoft.com/office/powerpoint/2010/main" val="486980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14269-6C7F-4060-A7FF-44E778C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B03F-3D8B-409A-891B-0AFC564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6A6F4-E42A-4F69-8983-C79B44D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9FAFF-BA73-42A3-86C3-CD05E996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DFB3-43AF-4A56-8B9C-1028CC0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117FC-5268-4CD0-AB0A-79AC83E1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LIMITS &amp; 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50F78-2D9E-4BCD-A352-6067634B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F783B-C5AF-459B-9A87-9ED3B3F8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B4613-C607-4B63-B84C-00F8D4E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Current limitations and next improvements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F5245-6212-4D80-B9E3-20222DD3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A credible system presentation should acknowledge what is working now and what still deserves improvement.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B2564-5E2D-497B-858D-26785EF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390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3D839-89FA-49F4-AB9E-43F8899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B1EB2-5B77-443C-A790-B2DDA6E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Current limitations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97B11-E770-48FE-AF08-B65D27D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971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1. Vague claims can still receive strong verdicts.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2. The strongest demo path is still text-first.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3. Wider multimodal validation is still limited.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4. Some judgments still depend on retrieval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A0E21-3263-4489-A214-768EF481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390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F13B6-555A-4889-B8C2-729010DE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5BB06-11C9-4727-B4AB-6A5CBC00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Near-term improvements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3B9C2-38E5-4BDE-B3E8-EA56A49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971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1. Better uncertainty handling for weak inputs.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2. More image and video demo validation.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3. Richer reviewer audit trail.</a:t>
            </a:r>
          </a:p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4. Expanded evidence-source diversity.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74705-B102-493E-85C4-0876F842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390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C500E-6EF3-48DC-8EBC-F664A2CD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BF08F-1937-440D-ACA5-7A6E14E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Why the project is still strong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F83E3-5B63-4FD2-B6EE-021FB1F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0400"/>
            <a:ext cx="2971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The system already connects ML, retrieval, explainability, persistence, and product workflow in one coherent implementation.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E7148-C13E-49EA-9E80-A5BF171D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04A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F7B81-3BB7-44A7-A132-3EDAD6E7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F"/>
                </a:solidFill>
              </a:defRPr>
            </a:pPr>
            <a:r>
              <a:rPr sz="1275" b="0">
                <a:solidFill>
                  <a:srgbClr val="F4FAFF"/>
                </a:solidFill>
              </a:rPr>
              <a:t>Good presentation framing: this project solves the integrated verification workflow problem and creates a solid base for deeper multimodal and uncertainty-aware research.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CB09E-B688-45AC-8946-A5ECB2A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Faculty usually appreciate a strong limitations slide.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E2CD9-0801-481B-9E18-7B416E76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1486721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27CC93-7583-4195-A236-72F3526C1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0A3A5-0A3C-4166-91A7-96CCB5B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5D439-9150-49C1-953C-61BE470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81E1F-3BB2-4671-9275-5B39BD3B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-12573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40212-457F-40AC-9180-EF64782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44958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4E67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BB6DD-3ED1-46D3-BB26-14725D5E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E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5531B-B19C-44E8-B8F3-D0088DFD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D3F3"/>
                </a:solidFill>
              </a:defRPr>
            </a:pPr>
            <a:r>
              <a:rPr sz="975" b="1">
                <a:solidFill>
                  <a:srgbClr val="1FD3F3"/>
                </a:solidFill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6AE2-4F90-4C6C-8565-36A0F9F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A1B7"/>
                </a:solidFill>
              </a:defRPr>
            </a:pPr>
            <a:r>
              <a:rPr sz="975" b="1">
                <a:solidFill>
                  <a:srgbClr val="7AA1B7"/>
                </a:solidFill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139F0-0283-44C7-A867-DAF764E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5E78D-F3C3-4FE2-B5D8-9EE54C6D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AFF"/>
                </a:solidFill>
              </a:defRPr>
            </a:pPr>
            <a:r>
              <a:rPr sz="2550" b="1">
                <a:solidFill>
                  <a:srgbClr val="F4FAFF"/>
                </a:solidFill>
              </a:rPr>
              <a:t>FactShield in one sentence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0E468-D81E-4FB9-AE6A-2827673B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1CBDA"/>
                </a:solidFill>
              </a:defRPr>
            </a:pPr>
            <a:r>
              <a:rPr sz="1275" b="0">
                <a:solidFill>
                  <a:srgbClr val="B1CBDA"/>
                </a:solidFill>
              </a:rPr>
              <a:t>FactShield is an explainable misinformation-verification platform that connects technical analysis to real analyst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40CF0-A444-4EBD-94B3-D812A267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CEC60-DAFB-4633-BB8C-565CEC00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3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1D123-4B19-452E-9BA5-E72DBBE6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Problem addressed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6D72-B72B-494C-9DBF-EE94886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819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Slow, fragmented, and weakly explainable verification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BF7A7-1C0F-4880-B497-67562C73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B20BD-C927-4EB7-B997-0E34642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D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CC6B1-3D3F-4925-9C77-AA2B232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System contribution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1B9EF-2B8B-4B22-8EE1-77BC3CD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2819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A pipeline that classifies, retrieves, reasons, explains, and operationalizes results.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BC883-D5FF-4C51-B749-33F2AB3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238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43926-EF8C-47CA-9610-F430AAD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F8859-ADD5-44B8-BA64-61663AB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F"/>
                </a:solidFill>
              </a:defRPr>
            </a:pPr>
            <a:r>
              <a:rPr sz="1275" b="1">
                <a:solidFill>
                  <a:srgbClr val="F4FAFF"/>
                </a:solidFill>
              </a:rPr>
              <a:t>Product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2FB48-9113-4BE3-9C71-731C2FD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819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1CBDA"/>
                </a:solidFill>
              </a:defRPr>
            </a:pPr>
            <a:r>
              <a:rPr sz="1050" b="0">
                <a:solidFill>
                  <a:srgbClr val="B1CBDA"/>
                </a:solidFill>
              </a:rPr>
              <a:t>A SaaS interface with reports, assignments, settings, and export built on live backend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358C5-5EF2-4358-97F2-4F33A7A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437"/>
          </a:solidFill>
          <a:ln xmlns:a="http://schemas.openxmlformats.org/drawingml/2006/main" w="11430">
            <a:solidFill>
              <a:srgbClr val="2757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2CE00-5A81-470A-9DEF-23B9F3D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AFF"/>
                </a:solidFill>
              </a:defRPr>
            </a:pPr>
            <a:r>
              <a:rPr sz="1500" b="0">
                <a:solidFill>
                  <a:srgbClr val="F4FAFF"/>
                </a:solidFill>
              </a:rPr>
              <a:t>Thank you. The next step in the presentation is the live walkthrough using the tested claim sequence.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E3EBF-F8F9-46C7-A929-C429EFB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149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D3F3"/>
                </a:solidFill>
              </a:defRPr>
            </a:pPr>
            <a:r>
              <a:rPr sz="1800" b="1">
                <a:solidFill>
                  <a:srgbClr val="1FD3F3"/>
                </a:solidFill>
              </a:rPr>
              <a:t>Questions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1E7F5-6539-42E0-B6AE-4C92ECE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End here before switching to the live product demo.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9143B-6A0A-43B7-9F75-BED3C35E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055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A1B7"/>
                </a:solidFill>
              </a:defRPr>
            </a:pPr>
            <a:r>
              <a:rPr sz="825" b="0">
                <a:solidFill>
                  <a:srgbClr val="7AA1B7"/>
                </a:solidFill>
              </a:rPr>
              <a:t>Presentation close</a:t>
            </a:r>
          </a:p>
        </p:txBody>
      </p:sp>
    </p:spTree>
    <p:extLst>
      <p:ext uri="{BB962C8B-B14F-4D97-AF65-F5344CB8AC3E}">
        <p14:creationId xmlns:p14="http://schemas.microsoft.com/office/powerpoint/2010/main" val="2036589176"/>
      </p:ext>
    </p:extLst>
  </p:cSld>
</p:sld>
</file>

<file path=ppt/theme/theme1.xml><?xml version="1.0" encoding="utf-8"?>
<a:theme xmlns:a="http://schemas.openxmlformats.org/drawingml/2006/main" name="FactShield">
  <a:themeElements>
    <a:clrScheme name="FactShield">
      <a:accent1>
        <a:srgbClr val="1FD3F3"/>
      </a:accent1>
      <a:accent2>
        <a:srgbClr val="1AD1A5"/>
      </a:accent2>
      <a:accent3>
        <a:srgbClr val="F0C86B"/>
      </a:accent3>
      <a:accent4>
        <a:srgbClr val="FF7E87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actShiel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2026-04-28T16:56:26.8010000Z</dcterms:created>
  <dcterms:modified xsi:type="dcterms:W3CDTF">2026-04-28T16:56:26.8010000Z</dcterms:modified>
</coreProperties>
</file>